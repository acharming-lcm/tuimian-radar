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【0:00–0:20】推免雷达，把 29 所高校官网的推免公告，变成今天该你办的几件事。2,646 条公告、557 位导师、233 条自动检查。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【0:20–0:50】保研人每天重复三件事：刷官网、找截止日、辨真假。漏一条，可能少一次报名机会。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【0:50–1:20】一句话：每天替你看 29 所学校，只推该你办的，每条能回原文。三个关键词：不漏、省时、敢用。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【1:20–1:55】第一个核心功能是不漏。29 所学校、37 个站点、2,646 条公告，每天自动更新；你不需要自己开 29 个网站。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【1:55–2:35】第二个核心功能是省时。填四行画像，每天最多十条；每条写清楚为什么推给你、还剩几天。不是给一屏信息，是告诉你今天先做哪件。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:35–3:05】第三个核心功能是敢用。每条都能点回原文；截止日分三种情况，日期明确、公告未写明、资料在附件，页面都会给出对应入口。北大那条正文没写截止日，截止日在附件第二页；我们不会写成无截止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【3:05–3:30】附赠功能：557 位导师按方向排序；套磁信是模板拼的，4 条引用都来自公告原文。找导师、写套磁信，一步到位。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【3:30–4:10】凭什么信：233 条自动检查，任何人可以复跑；三校漏检率从 74.1% 降到 17.4%。29 所学校、37 个站点持续监控，新增公告进提醒。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【4:10–4:40】免费每天前十条；29 元是待验证的价格，不是定论。找 3 到 5 位正在保研的同学试用；愿意为不漏和可回原文付费，就继续做。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【4:40–5:00】看得全、推得准、查得到。每天替你看 29 所学校，只推今天该办的，每条都能回到原文。谢谢。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EFDE"/>
              </a:gs>
              <a:gs pos="100000">
                <a:srgbClr val="E9DABE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A8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58200" y="0"/>
            <a:ext cx="3733495" cy="6858000"/>
          </a:xfrm>
          <a:prstGeom prst="rect">
            <a:avLst/>
          </a:prstGeom>
          <a:gradFill rotWithShape="1">
            <a:gsLst>
              <a:gs pos="0">
                <a:srgbClr val="172B44"/>
              </a:gs>
              <a:gs pos="100000">
                <a:srgbClr val="091422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658368"/>
            <a:ext cx="1737360" cy="32004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896112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推免雷达  ·  TUIMIAN RADAR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72237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800" b="1">
                <a:solidFill>
                  <a:srgbClr val="16202F"/>
                </a:solidFill>
                <a:latin typeface="Noto Serif SC"/>
                <a:ea typeface="Noto Serif SC"/>
              </a:rPr>
              <a:t>推免雷达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70408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500" b="0">
                <a:solidFill>
                  <a:srgbClr val="5E6672"/>
                </a:solidFill>
                <a:latin typeface="Noto Sans SC"/>
                <a:ea typeface="Noto Sans SC"/>
              </a:rPr>
              <a:t>把 29 所高校官网的推免公告，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2500" b="0">
                <a:solidFill>
                  <a:srgbClr val="5E6672"/>
                </a:solidFill>
                <a:latin typeface="Noto Sans SC"/>
                <a:ea typeface="Noto Sans SC"/>
              </a:rPr>
              <a:t>变成今天该你办的几件事。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6949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>
                <a:solidFill>
                  <a:srgbClr val="A84932"/>
                </a:solidFill>
                <a:latin typeface="Noto Serif SC"/>
                <a:ea typeface="Noto Serif SC"/>
              </a:rPr>
              <a:t>官网一发，我们就收；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>
                <a:solidFill>
                  <a:srgbClr val="A84932"/>
                </a:solidFill>
                <a:latin typeface="Noto Serif SC"/>
                <a:ea typeface="Noto Serif SC"/>
              </a:rPr>
              <a:t>每条都留原文入口。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浙江大学 AI+X 破界黑客松 · 天猫校园产业孵化赛道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0515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6EDDD"/>
                </a:solidFill>
                <a:latin typeface="Noto Serif SC"/>
                <a:ea typeface="Noto Serif SC"/>
              </a:rPr>
              <a:t>2,646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5819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条公告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075688"/>
            <a:ext cx="283464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5400" y="22860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6EDDD"/>
                </a:solidFill>
                <a:latin typeface="Noto Serif SC"/>
                <a:ea typeface="Noto Serif SC"/>
              </a:rPr>
              <a:t>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81635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所学校 / 37 个站点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3310128"/>
            <a:ext cx="283464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15400" y="35204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6EDDD"/>
                </a:solidFill>
                <a:latin typeface="Noto Serif SC"/>
                <a:ea typeface="Noto Serif SC"/>
              </a:rPr>
              <a:t>557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4050791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位导师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4544568"/>
            <a:ext cx="283464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15400" y="47548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400" b="1">
                <a:solidFill>
                  <a:srgbClr val="F6EDDD"/>
                </a:solidFill>
                <a:latin typeface="Noto Serif SC"/>
                <a:ea typeface="Noto Serif SC"/>
              </a:rPr>
              <a:t>233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28523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条自动检查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EFDE"/>
              </a:gs>
              <a:gs pos="100000">
                <a:srgbClr val="E9DABE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A8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84932"/>
                </a:solidFill>
                <a:latin typeface="Noto Sans SC"/>
                <a:ea typeface="Noto Sans SC"/>
              </a:rPr>
              <a:t>01 / 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4241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6202F"/>
                </a:solidFill>
                <a:latin typeface="Noto Serif SC"/>
                <a:ea typeface="Noto Serif SC"/>
              </a:rPr>
              <a:t>保研人每天，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6202F"/>
                </a:solidFill>
                <a:latin typeface="Noto Serif SC"/>
                <a:ea typeface="Noto Serif SC"/>
              </a:rPr>
              <a:t>都在重复三件事。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97480"/>
            <a:ext cx="10424160" cy="10972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843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11" name="a2-1"/>
          <p:cNvSpPr txBox="1"/>
          <p:nvPr/>
        </p:nvSpPr>
        <p:spPr>
          <a:xfrm>
            <a:off x="1463040" y="2788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6202F"/>
                </a:solidFill>
                <a:latin typeface="Noto Serif SC"/>
                <a:ea typeface="Noto Serif SC"/>
              </a:rPr>
              <a:t>刷官网</a:t>
            </a:r>
          </a:p>
        </p:txBody>
      </p:sp>
      <p:sp>
        <p:nvSpPr>
          <p:cNvPr id="12" name="a2-1"/>
          <p:cNvSpPr txBox="1"/>
          <p:nvPr/>
        </p:nvSpPr>
        <p:spPr>
          <a:xfrm>
            <a:off x="3474720" y="2862072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5E6672"/>
                </a:solidFill>
                <a:latin typeface="Noto Sans SC"/>
                <a:ea typeface="Noto Sans SC"/>
              </a:rPr>
              <a:t>20 多所学校、几十个栏目，每天翻一遍。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40480"/>
            <a:ext cx="10424160" cy="10972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986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5" name="a2-2"/>
          <p:cNvSpPr txBox="1"/>
          <p:nvPr/>
        </p:nvSpPr>
        <p:spPr>
          <a:xfrm>
            <a:off x="1463040" y="3931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6202F"/>
                </a:solidFill>
                <a:latin typeface="Noto Serif SC"/>
                <a:ea typeface="Noto Serif SC"/>
              </a:rPr>
              <a:t>找截止日</a:t>
            </a:r>
          </a:p>
        </p:txBody>
      </p:sp>
      <p:sp>
        <p:nvSpPr>
          <p:cNvPr id="16" name="a2-2"/>
          <p:cNvSpPr txBox="1"/>
          <p:nvPr/>
        </p:nvSpPr>
        <p:spPr>
          <a:xfrm>
            <a:off x="3474720" y="4005072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5E6672"/>
                </a:solidFill>
                <a:latin typeface="Noto Sans SC"/>
                <a:ea typeface="Noto Sans SC"/>
              </a:rPr>
              <a:t>经常不在正文，而在附件 PDF、表格或图片里。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10424160" cy="10972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9" name="a2-3"/>
          <p:cNvSpPr txBox="1"/>
          <p:nvPr/>
        </p:nvSpPr>
        <p:spPr>
          <a:xfrm>
            <a:off x="1463040" y="50749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6202F"/>
                </a:solidFill>
                <a:latin typeface="Noto Serif SC"/>
                <a:ea typeface="Noto Serif SC"/>
              </a:rPr>
              <a:t>辨真假</a:t>
            </a:r>
          </a:p>
        </p:txBody>
      </p:sp>
      <p:sp>
        <p:nvSpPr>
          <p:cNvPr id="20" name="a2-3"/>
          <p:cNvSpPr txBox="1"/>
          <p:nvPr/>
        </p:nvSpPr>
        <p:spPr>
          <a:xfrm>
            <a:off x="3474720" y="5148072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5E6672"/>
                </a:solidFill>
                <a:latin typeface="Noto Sans SC"/>
                <a:ea typeface="Noto Sans SC"/>
              </a:rPr>
              <a:t>群里转的消息慢一步，还点不回原文。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A84932"/>
                </a:solidFill>
                <a:latin typeface="Noto Serif SC"/>
                <a:ea typeface="Noto Serif SC"/>
              </a:rPr>
              <a:t>漏一条，可能少一次报名机会。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A42"/>
              </a:gs>
              <a:gs pos="100000">
                <a:srgbClr val="091422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02 / 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10424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600" b="1">
                <a:solidFill>
                  <a:srgbClr val="F6EDDD"/>
                </a:solidFill>
                <a:latin typeface="Noto Serif SC"/>
                <a:ea typeface="Noto Serif SC"/>
              </a:rPr>
              <a:t>每天替你看 29 所学校，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600" b="1">
                <a:solidFill>
                  <a:srgbClr val="F6EDDD"/>
                </a:solidFill>
                <a:latin typeface="Noto Serif SC"/>
                <a:ea typeface="Noto Serif SC"/>
              </a:rPr>
              <a:t>只推该你办的，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600" b="1">
                <a:solidFill>
                  <a:srgbClr val="F6EDDD"/>
                </a:solidFill>
                <a:latin typeface="Noto Serif SC"/>
                <a:ea typeface="Noto Serif SC"/>
              </a:rPr>
              <a:t>每条能回原文。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01</a:t>
            </a:r>
          </a:p>
        </p:txBody>
      </p:sp>
      <p:sp>
        <p:nvSpPr>
          <p:cNvPr id="8" name="a3-1"/>
          <p:cNvSpPr txBox="1"/>
          <p:nvPr/>
        </p:nvSpPr>
        <p:spPr>
          <a:xfrm>
            <a:off x="1417320" y="38404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6EDDD"/>
                </a:solidFill>
                <a:latin typeface="Noto Serif SC"/>
                <a:ea typeface="Noto Serif SC"/>
              </a:rPr>
              <a:t>不漏</a:t>
            </a:r>
          </a:p>
        </p:txBody>
      </p:sp>
      <p:sp>
        <p:nvSpPr>
          <p:cNvPr id="9" name="a3-1"/>
          <p:cNvSpPr txBox="1"/>
          <p:nvPr/>
        </p:nvSpPr>
        <p:spPr>
          <a:xfrm>
            <a:off x="822960" y="45262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官网一发就收。
29 所 / 37 个站点。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886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02</a:t>
            </a:r>
          </a:p>
        </p:txBody>
      </p:sp>
      <p:sp>
        <p:nvSpPr>
          <p:cNvPr id="11" name="a3-2"/>
          <p:cNvSpPr txBox="1"/>
          <p:nvPr/>
        </p:nvSpPr>
        <p:spPr>
          <a:xfrm>
            <a:off x="5074920" y="38404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6EDDD"/>
                </a:solidFill>
                <a:latin typeface="Noto Serif SC"/>
                <a:ea typeface="Noto Serif SC"/>
              </a:rPr>
              <a:t>省时</a:t>
            </a:r>
          </a:p>
        </p:txBody>
      </p:sp>
      <p:sp>
        <p:nvSpPr>
          <p:cNvPr id="12" name="a3-2"/>
          <p:cNvSpPr txBox="1"/>
          <p:nvPr/>
        </p:nvSpPr>
        <p:spPr>
          <a:xfrm>
            <a:off x="4480560" y="45262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填四行字，
每天最多 10 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8862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03</a:t>
            </a:r>
          </a:p>
        </p:txBody>
      </p:sp>
      <p:sp>
        <p:nvSpPr>
          <p:cNvPr id="14" name="a3-3"/>
          <p:cNvSpPr txBox="1"/>
          <p:nvPr/>
        </p:nvSpPr>
        <p:spPr>
          <a:xfrm>
            <a:off x="8732520" y="384048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>
                <a:solidFill>
                  <a:srgbClr val="F6EDDD"/>
                </a:solidFill>
                <a:latin typeface="Noto Serif SC"/>
                <a:ea typeface="Noto Serif SC"/>
              </a:rPr>
              <a:t>敢用</a:t>
            </a:r>
          </a:p>
        </p:txBody>
      </p:sp>
      <p:sp>
        <p:nvSpPr>
          <p:cNvPr id="15" name="a3-3"/>
          <p:cNvSpPr txBox="1"/>
          <p:nvPr/>
        </p:nvSpPr>
        <p:spPr>
          <a:xfrm>
            <a:off x="8138160" y="452628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每条都有原文链接；
信息完整可核对。</a:t>
            </a:r>
          </a:p>
        </p:txBody>
      </p:sp>
      <p:sp>
        <p:nvSpPr>
          <p:cNvPr id="16" name="a3-4"/>
          <p:cNvSpPr txBox="1"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E0B6A4"/>
                </a:solidFill>
                <a:latin typeface="Noto Sans SC"/>
                <a:ea typeface="Noto Sans SC"/>
              </a:rPr>
              <a:t>不是又一个保研 App，是一个替你看官网的工具。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EFDE"/>
              </a:gs>
              <a:gs pos="100000">
                <a:srgbClr val="E9DABE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A8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84932"/>
                </a:solidFill>
                <a:latin typeface="Noto Sans SC"/>
                <a:ea typeface="Noto Sans SC"/>
              </a:rPr>
              <a:t>03 / 核心功能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6202F"/>
                </a:solidFill>
                <a:latin typeface="Noto Serif SC"/>
                <a:ea typeface="Noto Serif SC"/>
              </a:rPr>
              <a:t>不漏：官网一发，我们就收。</a:t>
            </a:r>
          </a:p>
        </p:txBody>
      </p:sp>
      <p:sp>
        <p:nvSpPr>
          <p:cNvPr id="9" name="a4-1"/>
          <p:cNvSpPr txBox="1"/>
          <p:nvPr/>
        </p:nvSpPr>
        <p:spPr>
          <a:xfrm>
            <a:off x="82296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A84932"/>
                </a:solidFill>
                <a:latin typeface="Noto Serif SC"/>
                <a:ea typeface="Noto Serif SC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所学校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331720"/>
            <a:ext cx="10972" cy="914400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4-2"/>
          <p:cNvSpPr txBox="1"/>
          <p:nvPr/>
        </p:nvSpPr>
        <p:spPr>
          <a:xfrm>
            <a:off x="352044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A84932"/>
                </a:solidFill>
                <a:latin typeface="Noto Serif SC"/>
                <a:ea typeface="Noto Serif SC"/>
              </a:rP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个站点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2331720"/>
            <a:ext cx="10972" cy="914400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4-3"/>
          <p:cNvSpPr txBox="1"/>
          <p:nvPr/>
        </p:nvSpPr>
        <p:spPr>
          <a:xfrm>
            <a:off x="621792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A84932"/>
                </a:solidFill>
                <a:latin typeface="Noto Serif SC"/>
                <a:ea typeface="Noto Serif SC"/>
              </a:rPr>
              <a:t>2,646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条公告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2331720"/>
            <a:ext cx="10972" cy="914400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4-4"/>
          <p:cNvSpPr txBox="1"/>
          <p:nvPr/>
        </p:nvSpPr>
        <p:spPr>
          <a:xfrm>
            <a:off x="8915400" y="233172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>
                <a:solidFill>
                  <a:srgbClr val="A84932"/>
                </a:solidFill>
                <a:latin typeface="Noto Serif SC"/>
                <a:ea typeface="Noto Serif SC"/>
              </a:rPr>
              <a:t>每天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9718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自动更新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794760"/>
            <a:ext cx="10424160" cy="10972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4-1"/>
          <p:cNvSpPr txBox="1"/>
          <p:nvPr/>
        </p:nvSpPr>
        <p:spPr>
          <a:xfrm>
            <a:off x="822960" y="406908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400" b="0">
                <a:solidFill>
                  <a:srgbClr val="16202F"/>
                </a:solidFill>
                <a:latin typeface="Noto Sans SC"/>
                <a:ea typeface="Noto Sans SC"/>
              </a:rPr>
              <a:t>你不需要每天开 29 个网站。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400" b="0">
                <a:solidFill>
                  <a:srgbClr val="16202F"/>
                </a:solidFill>
                <a:latin typeface="Noto Sans SC"/>
                <a:ea typeface="Noto Sans SC"/>
              </a:rPr>
              <a:t>新增公告会进站内提醒，不用自己刷。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5216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覆盖广不广，直接决定会不会漏。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EFDE"/>
              </a:gs>
              <a:gs pos="100000">
                <a:srgbClr val="E9DABE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A8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84932"/>
                </a:solidFill>
                <a:latin typeface="Noto Sans SC"/>
                <a:ea typeface="Noto Sans SC"/>
              </a:rPr>
              <a:t>04 / 核心功能 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6202F"/>
                </a:solidFill>
                <a:latin typeface="Noto Serif SC"/>
                <a:ea typeface="Noto Serif SC"/>
              </a:rPr>
              <a:t>省时：只推该你办的那几条。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1</a:t>
            </a:r>
          </a:p>
        </p:txBody>
      </p:sp>
      <p:sp>
        <p:nvSpPr>
          <p:cNvPr id="10" name="a5-1"/>
          <p:cNvSpPr txBox="1"/>
          <p:nvPr/>
        </p:nvSpPr>
        <p:spPr>
          <a:xfrm>
            <a:off x="8229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6202F"/>
                </a:solidFill>
                <a:latin typeface="Noto Serif SC"/>
                <a:ea typeface="Noto Serif SC"/>
              </a:rPr>
              <a:t>填四行画像</a:t>
            </a:r>
          </a:p>
        </p:txBody>
      </p:sp>
      <p:sp>
        <p:nvSpPr>
          <p:cNvPr id="11" name="a5-1"/>
          <p:cNvSpPr txBox="1"/>
          <p:nvPr/>
        </p:nvSpPr>
        <p:spPr>
          <a:xfrm>
            <a:off x="8229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学校 / 专业 / 意向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54880"/>
            <a:ext cx="2468880" cy="10972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2</a:t>
            </a:r>
          </a:p>
        </p:txBody>
      </p:sp>
      <p:sp>
        <p:nvSpPr>
          <p:cNvPr id="14" name="a5-2"/>
          <p:cNvSpPr txBox="1"/>
          <p:nvPr/>
        </p:nvSpPr>
        <p:spPr>
          <a:xfrm>
            <a:off x="35661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6202F"/>
                </a:solidFill>
                <a:latin typeface="Noto Serif SC"/>
                <a:ea typeface="Noto Serif SC"/>
              </a:rPr>
              <a:t>每天最多 10 条</a:t>
            </a:r>
          </a:p>
        </p:txBody>
      </p:sp>
      <p:sp>
        <p:nvSpPr>
          <p:cNvPr id="15" name="a5-2"/>
          <p:cNvSpPr txBox="1"/>
          <p:nvPr/>
        </p:nvSpPr>
        <p:spPr>
          <a:xfrm>
            <a:off x="35661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不是一屏信息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4754880"/>
            <a:ext cx="2468880" cy="10972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3</a:t>
            </a:r>
          </a:p>
        </p:txBody>
      </p:sp>
      <p:sp>
        <p:nvSpPr>
          <p:cNvPr id="18" name="a5-3"/>
          <p:cNvSpPr txBox="1"/>
          <p:nvPr/>
        </p:nvSpPr>
        <p:spPr>
          <a:xfrm>
            <a:off x="63093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6202F"/>
                </a:solidFill>
                <a:latin typeface="Noto Serif SC"/>
                <a:ea typeface="Noto Serif SC"/>
              </a:rPr>
              <a:t>写清为什么推给你</a:t>
            </a:r>
          </a:p>
        </p:txBody>
      </p:sp>
      <p:sp>
        <p:nvSpPr>
          <p:cNvPr id="19" name="a5-3"/>
          <p:cNvSpPr txBox="1"/>
          <p:nvPr/>
        </p:nvSpPr>
        <p:spPr>
          <a:xfrm>
            <a:off x="63093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学校 / 专业 / 方向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754880"/>
            <a:ext cx="2468880" cy="10972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4</a:t>
            </a:r>
          </a:p>
        </p:txBody>
      </p:sp>
      <p:sp>
        <p:nvSpPr>
          <p:cNvPr id="22" name="a5-4"/>
          <p:cNvSpPr txBox="1"/>
          <p:nvPr/>
        </p:nvSpPr>
        <p:spPr>
          <a:xfrm>
            <a:off x="9052560" y="29718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16202F"/>
                </a:solidFill>
                <a:latin typeface="Noto Serif SC"/>
                <a:ea typeface="Noto Serif SC"/>
              </a:rPr>
              <a:t>标出还剩几天</a:t>
            </a:r>
          </a:p>
        </p:txBody>
      </p:sp>
      <p:sp>
        <p:nvSpPr>
          <p:cNvPr id="23" name="a5-4"/>
          <p:cNvSpPr txBox="1"/>
          <p:nvPr/>
        </p:nvSpPr>
        <p:spPr>
          <a:xfrm>
            <a:off x="9052560" y="3840480"/>
            <a:ext cx="2423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今天截止会跳出来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4754880"/>
            <a:ext cx="2468880" cy="10972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5-5"/>
          <p:cNvSpPr txBox="1"/>
          <p:nvPr/>
        </p:nvSpPr>
        <p:spPr>
          <a:xfrm>
            <a:off x="822960" y="5257800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A84932"/>
                </a:solidFill>
                <a:latin typeface="Noto Serif SC"/>
                <a:ea typeface="Noto Serif SC"/>
              </a:rPr>
              <a:t>只给你今天该做的那几条。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EFDE"/>
              </a:gs>
              <a:gs pos="100000">
                <a:srgbClr val="E9DABE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A8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84932"/>
                </a:solidFill>
                <a:latin typeface="Noto Sans SC"/>
                <a:ea typeface="Noto Sans SC"/>
              </a:rPr>
              <a:t>05 / 核心功能 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6202F"/>
                </a:solidFill>
                <a:latin typeface="Noto Serif SC"/>
                <a:ea typeface="Noto Serif SC"/>
              </a:rPr>
              <a:t>敢用：每条都能点回原文。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FOUND</a:t>
            </a:r>
          </a:p>
        </p:txBody>
      </p:sp>
      <p:sp>
        <p:nvSpPr>
          <p:cNvPr id="10" name="a6-1"/>
          <p:cNvSpPr txBox="1"/>
          <p:nvPr/>
        </p:nvSpPr>
        <p:spPr>
          <a:xfrm>
            <a:off x="822960" y="285292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6202F"/>
                </a:solidFill>
                <a:latin typeface="Noto Serif SC"/>
                <a:ea typeface="Noto Serif SC"/>
              </a:rPr>
              <a:t>日期明确</a:t>
            </a:r>
          </a:p>
        </p:txBody>
      </p:sp>
      <p:sp>
        <p:nvSpPr>
          <p:cNvPr id="11" name="a6-1"/>
          <p:cNvSpPr txBox="1"/>
          <p:nvPr/>
        </p:nvSpPr>
        <p:spPr>
          <a:xfrm>
            <a:off x="822960" y="34290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直接显示日期和剩余天数。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514600"/>
            <a:ext cx="10972" cy="2011680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24871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ABSENT</a:t>
            </a:r>
          </a:p>
        </p:txBody>
      </p:sp>
      <p:sp>
        <p:nvSpPr>
          <p:cNvPr id="14" name="a6-2"/>
          <p:cNvSpPr txBox="1"/>
          <p:nvPr/>
        </p:nvSpPr>
        <p:spPr>
          <a:xfrm>
            <a:off x="4480560" y="285292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6202F"/>
                </a:solidFill>
                <a:latin typeface="Noto Serif SC"/>
                <a:ea typeface="Noto Serif SC"/>
              </a:rPr>
              <a:t>公告未写明</a:t>
            </a:r>
          </a:p>
        </p:txBody>
      </p:sp>
      <p:sp>
        <p:nvSpPr>
          <p:cNvPr id="15" name="a6-2"/>
          <p:cNvSpPr txBox="1"/>
          <p:nvPr/>
        </p:nvSpPr>
        <p:spPr>
          <a:xfrm>
            <a:off x="4480560" y="34290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保留附件和原文链接，提示查看原文。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514600"/>
            <a:ext cx="10972" cy="2011680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24871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UNKNOWN</a:t>
            </a:r>
          </a:p>
        </p:txBody>
      </p:sp>
      <p:sp>
        <p:nvSpPr>
          <p:cNvPr id="18" name="a6-3"/>
          <p:cNvSpPr txBox="1"/>
          <p:nvPr/>
        </p:nvSpPr>
        <p:spPr>
          <a:xfrm>
            <a:off x="8138160" y="285292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000" b="1">
                <a:solidFill>
                  <a:srgbClr val="16202F"/>
                </a:solidFill>
                <a:latin typeface="Noto Serif SC"/>
                <a:ea typeface="Noto Serif SC"/>
              </a:rPr>
              <a:t>资料在附件</a:t>
            </a:r>
          </a:p>
        </p:txBody>
      </p:sp>
      <p:sp>
        <p:nvSpPr>
          <p:cNvPr id="19" name="a6-3"/>
          <p:cNvSpPr txBox="1"/>
          <p:nvPr/>
        </p:nvSpPr>
        <p:spPr>
          <a:xfrm>
            <a:off x="8138160" y="342900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正文、附件、原文入口一次给全。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46320"/>
            <a:ext cx="10424160" cy="32004"/>
          </a:xfrm>
          <a:prstGeom prst="rect">
            <a:avLst/>
          </a:prstGeom>
          <a:solidFill>
            <a:srgbClr val="A8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6-2"/>
          <p:cNvSpPr txBox="1"/>
          <p:nvPr/>
        </p:nvSpPr>
        <p:spPr>
          <a:xfrm>
            <a:off x="1051560" y="50292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16202F"/>
                </a:solidFill>
                <a:latin typeface="Noto Sans SC"/>
                <a:ea typeface="Noto Sans SC"/>
              </a:rPr>
              <a:t>北大 2027 推免办法正文没写截止日，截止日在附件第二页。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16202F"/>
                </a:solidFill>
                <a:latin typeface="Noto Sans SC"/>
                <a:ea typeface="Noto Sans SC"/>
              </a:rPr>
              <a:t>我们不会写「无截止日」，会保留附件和原文链接。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EFDE"/>
              </a:gs>
              <a:gs pos="100000">
                <a:srgbClr val="E9DABE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A8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84932"/>
                </a:solidFill>
                <a:latin typeface="Noto Sans SC"/>
                <a:ea typeface="Noto Sans SC"/>
              </a:rPr>
              <a:t>06 / 附赠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6202F"/>
                </a:solidFill>
                <a:latin typeface="Noto Serif SC"/>
                <a:ea typeface="Noto Serif SC"/>
              </a:rPr>
              <a:t>还能找导师、写套磁信。</a:t>
            </a:r>
          </a:p>
        </p:txBody>
      </p:sp>
      <p:sp>
        <p:nvSpPr>
          <p:cNvPr id="9" name="a7-1"/>
          <p:cNvSpPr txBox="1"/>
          <p:nvPr/>
        </p:nvSpPr>
        <p:spPr>
          <a:xfrm>
            <a:off x="822960" y="2057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A84932"/>
                </a:solidFill>
                <a:latin typeface="Noto Serif SC"/>
                <a:ea typeface="Noto Serif SC"/>
              </a:rPr>
              <a:t>557 位导师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379 位有研究方向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327 位有公开邮箱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按方向排序，不看名气</a:t>
            </a:r>
          </a:p>
        </p:txBody>
      </p:sp>
      <p:sp>
        <p:nvSpPr>
          <p:cNvPr id="11" name="a7-2"/>
          <p:cNvSpPr txBox="1"/>
          <p:nvPr/>
        </p:nvSpPr>
        <p:spPr>
          <a:xfrm>
            <a:off x="6309360" y="2057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A84932"/>
                </a:solidFill>
                <a:latin typeface="Noto Serif SC"/>
                <a:ea typeface="Noto Serif SC"/>
              </a:rPr>
              <a:t>4 条引用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0604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一键生成套磁信草稿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每条引用都来自公告原文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点一下就能核对</a:t>
            </a:r>
          </a:p>
        </p:txBody>
      </p:sp>
      <p:sp>
        <p:nvSpPr>
          <p:cNvPr id="13" name="a7-3"/>
          <p:cNvSpPr txBox="1"/>
          <p:nvPr/>
        </p:nvSpPr>
        <p:spPr>
          <a:xfrm>
            <a:off x="822960" y="475488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0">
                <a:solidFill>
                  <a:srgbClr val="A84932"/>
                </a:solidFill>
                <a:latin typeface="Noto Serif SC"/>
                <a:ea typeface="Noto Serif SC"/>
              </a:rPr>
              <a:t>找导师、写套磁信，一步到位。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A42"/>
              </a:gs>
              <a:gs pos="100000">
                <a:srgbClr val="091422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07 / 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F6EDDD"/>
                </a:solidFill>
                <a:latin typeface="Noto Serif SC"/>
                <a:ea typeface="Noto Serif SC"/>
              </a:rPr>
              <a:t>三条硬指标。</a:t>
            </a:r>
          </a:p>
        </p:txBody>
      </p:sp>
      <p:sp>
        <p:nvSpPr>
          <p:cNvPr id="7" name="a8-1"/>
          <p:cNvSpPr txBox="1"/>
          <p:nvPr/>
        </p:nvSpPr>
        <p:spPr>
          <a:xfrm>
            <a:off x="822960" y="233172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C9A25C"/>
                </a:solidFill>
                <a:latin typeface="Noto Serif SC"/>
                <a:ea typeface="Noto Serif SC"/>
              </a:rPr>
              <a:t>233 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3500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F6EDDD"/>
                </a:solidFill>
                <a:latin typeface="Noto Sans SC"/>
                <a:ea typeface="Noto Sans SC"/>
              </a:rPr>
              <a:t>自动检查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35000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契约、三态、数据健康，全部可复跑。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08960"/>
            <a:ext cx="1042416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8-2"/>
          <p:cNvSpPr txBox="1"/>
          <p:nvPr/>
        </p:nvSpPr>
        <p:spPr>
          <a:xfrm>
            <a:off x="822960" y="3520439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C9A25C"/>
                </a:solidFill>
                <a:latin typeface="Noto Serif SC"/>
                <a:ea typeface="Noto Serif SC"/>
              </a:rPr>
              <a:t>74.1% → 17.4%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538727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F6EDDD"/>
                </a:solidFill>
                <a:latin typeface="Noto Sans SC"/>
                <a:ea typeface="Noto Sans SC"/>
              </a:rPr>
              <a:t>三校漏检率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538727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北大、川大、清华物理。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97679"/>
            <a:ext cx="1042416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8-3"/>
          <p:cNvSpPr txBox="1"/>
          <p:nvPr/>
        </p:nvSpPr>
        <p:spPr>
          <a:xfrm>
            <a:off x="822960" y="470916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C9A25C"/>
                </a:solidFill>
                <a:latin typeface="Noto Serif SC"/>
                <a:ea typeface="Noto Serif SC"/>
              </a:rPr>
              <a:t>29 所 / 37 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72744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>
                <a:solidFill>
                  <a:srgbClr val="F6EDDD"/>
                </a:solidFill>
                <a:latin typeface="Noto Sans SC"/>
                <a:ea typeface="Noto Sans SC"/>
              </a:rPr>
              <a:t>持续监控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72744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2C9BD"/>
                </a:solidFill>
                <a:latin typeface="Noto Sans SC"/>
                <a:ea typeface="Noto Sans SC"/>
              </a:rPr>
              <a:t>每日更新，新增公告进提醒。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486400"/>
            <a:ext cx="10424160" cy="10972"/>
          </a:xfrm>
          <a:prstGeom prst="rect">
            <a:avLst/>
          </a:prstGeom>
          <a:solidFill>
            <a:srgbClr val="3B4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8-4"/>
          <p:cNvSpPr txBox="1"/>
          <p:nvPr/>
        </p:nvSpPr>
        <p:spPr>
          <a:xfrm>
            <a:off x="822960" y="58978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每一条结论，都能回到原文核对。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8EFDE"/>
              </a:gs>
              <a:gs pos="100000">
                <a:srgbClr val="E9DABE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18288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A84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A84932"/>
                </a:solidFill>
                <a:latin typeface="Noto Sans SC"/>
                <a:ea typeface="Noto Sans SC"/>
              </a:rPr>
              <a:t>08 / 收费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104241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6202F"/>
                </a:solidFill>
                <a:latin typeface="Noto Serif SC"/>
                <a:ea typeface="Noto Serif SC"/>
              </a:rPr>
              <a:t>先用免费版证明「不漏」，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800" b="1">
                <a:solidFill>
                  <a:srgbClr val="16202F"/>
                </a:solidFill>
                <a:latin typeface="Noto Serif SC"/>
                <a:ea typeface="Noto Serif SC"/>
              </a:rPr>
              <a:t>再让人为提醒付费。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206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200" b="1">
                <a:solidFill>
                  <a:srgbClr val="A84932"/>
                </a:solidFill>
                <a:latin typeface="Noto Serif SC"/>
                <a:ea typeface="Noto Serif SC"/>
              </a:rPr>
              <a:t>29 元 /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85292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待验证的价格</a:t>
            </a:r>
          </a:p>
        </p:txBody>
      </p:sp>
      <p:sp>
        <p:nvSpPr>
          <p:cNvPr id="11" name="a9-1"/>
          <p:cNvSpPr txBox="1"/>
          <p:nvPr/>
        </p:nvSpPr>
        <p:spPr>
          <a:xfrm>
            <a:off x="822960" y="347472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免费：每天前 10 条推送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付费：提醒、历史搜索、原文核对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目标：每天替学生省下 30 分钟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697480"/>
            <a:ext cx="10972" cy="2651760"/>
          </a:xfrm>
          <a:prstGeom prst="rect">
            <a:avLst/>
          </a:prstGeom>
          <a:solidFill>
            <a:srgbClr val="D8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6517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600" b="1">
                <a:solidFill>
                  <a:srgbClr val="16202F"/>
                </a:solidFill>
                <a:latin typeface="Noto Serif SC"/>
                <a:ea typeface="Noto Serif SC"/>
              </a:rPr>
              <a:t>怎么验证</a:t>
            </a:r>
          </a:p>
        </p:txBody>
      </p:sp>
      <p:sp>
        <p:nvSpPr>
          <p:cNvPr id="14" name="a9-2"/>
          <p:cNvSpPr txBox="1"/>
          <p:nvPr/>
        </p:nvSpPr>
        <p:spPr>
          <a:xfrm>
            <a:off x="6446520" y="3200400"/>
            <a:ext cx="47548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找浙大物理、材料学院 3–5 位正在保研的同学，试用 15 分钟。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愿意为「不漏 + 可回原文」付费，就继续做。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0">
                <a:solidFill>
                  <a:srgbClr val="5E6672"/>
                </a:solidFill>
                <a:latin typeface="Noto Sans SC"/>
                <a:ea typeface="Noto Sans SC"/>
              </a:rPr>
              <a:t>校园试点已启动，先看真实反馈。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9A25C"/>
                </a:solidFill>
                <a:latin typeface="Noto Sans SC"/>
                <a:ea typeface="Noto Sans SC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62A42"/>
              </a:gs>
              <a:gs pos="100000">
                <a:srgbClr val="091422"/>
              </a:gs>
            </a:gsLst>
            <a:lin ang="14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E0B6A4"/>
                </a:solidFill>
                <a:latin typeface="Noto Sans SC"/>
                <a:ea typeface="Noto Sans SC"/>
              </a:rPr>
              <a:t>09 / 一句话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896112"/>
            <a:ext cx="502920" cy="22860"/>
          </a:xfrm>
          <a:prstGeom prst="rect">
            <a:avLst/>
          </a:prstGeom>
          <a:solidFill>
            <a:srgbClr val="C9A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4241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000" b="1">
                <a:solidFill>
                  <a:srgbClr val="F6EDDD"/>
                </a:solidFill>
                <a:latin typeface="Noto Serif SC"/>
                <a:ea typeface="Noto Serif SC"/>
              </a:rPr>
              <a:t>看得全，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000" b="1">
                <a:solidFill>
                  <a:srgbClr val="F6EDDD"/>
                </a:solidFill>
                <a:latin typeface="Noto Serif SC"/>
                <a:ea typeface="Noto Serif SC"/>
              </a:rPr>
              <a:t>推得准，查得到。</a:t>
            </a:r>
          </a:p>
        </p:txBody>
      </p:sp>
      <p:sp>
        <p:nvSpPr>
          <p:cNvPr id="7" name="a10-1"/>
          <p:cNvSpPr txBox="1"/>
          <p:nvPr/>
        </p:nvSpPr>
        <p:spPr>
          <a:xfrm>
            <a:off x="822960" y="3337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C2C9BD"/>
                </a:solidFill>
                <a:latin typeface="Noto Sans SC"/>
                <a:ea typeface="Noto Sans SC"/>
              </a:rPr>
              <a:t>每天替你看 29 所学校，只推今天该办的。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>
                <a:solidFill>
                  <a:srgbClr val="C2C9BD"/>
                </a:solidFill>
                <a:latin typeface="Noto Sans SC"/>
                <a:ea typeface="Noto Sans SC"/>
              </a:rPr>
              <a:t>每条都能回到原文。</a:t>
            </a:r>
          </a:p>
        </p:txBody>
      </p:sp>
      <p:sp>
        <p:nvSpPr>
          <p:cNvPr id="8" name="a10-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F6EDDD"/>
                </a:solidFill>
                <a:latin typeface="Noto Sans SC"/>
                <a:ea typeface="Noto Sans SC"/>
              </a:rPr>
              <a:t>产品：lcmcharming-tuimian-radar.ms.show</a:t>
            </a:r>
          </a:p>
        </p:txBody>
      </p:sp>
      <p:sp>
        <p:nvSpPr>
          <p:cNvPr id="9" name="a10-2"/>
          <p:cNvSpPr txBox="1"/>
          <p:nvPr/>
        </p:nvSpPr>
        <p:spPr>
          <a:xfrm>
            <a:off x="822960" y="53218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F6EDDD"/>
                </a:solidFill>
                <a:latin typeface="Noto Sans SC"/>
                <a:ea typeface="Noto Sans SC"/>
              </a:rPr>
              <a:t>代码：github.com/ACharming-LCM/tuimian-radar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825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000" b="0">
                <a:solidFill>
                  <a:srgbClr val="C8BEA9"/>
                </a:solidFill>
                <a:latin typeface="Noto Sans SC"/>
                <a:ea typeface="Noto Sans SC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 thruBlk="1"/>
      </p:transition>
    </mc:Choice>
    <mc:Fallback>
      <p:transition spd="med"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579</Words>
  <Application>Microsoft Office PowerPoint</Application>
  <PresentationFormat>宽屏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Noto Sans SC</vt:lpstr>
      <vt:lpstr>Noto Serif SC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推免雷达 · 5 分钟路演</dc:title>
  <dc:subject>保研信息监控与核对工具</dc:subject>
  <dc:creator>ACharming-LCM</dc:creator>
  <cp:keywords/>
  <dc:description>generated using python-pptx</dc:description>
  <cp:lastModifiedBy>8619564781616</cp:lastModifiedBy>
  <cp:revision>3</cp:revision>
  <dcterms:created xsi:type="dcterms:W3CDTF">2013-01-27T09:14:16Z</dcterms:created>
  <dcterms:modified xsi:type="dcterms:W3CDTF">2026-10-22T10:19:02Z</dcterms:modified>
  <cp:category/>
</cp:coreProperties>
</file>