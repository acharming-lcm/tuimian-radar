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433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【0:00–0:20】推免雷达，把 29 所高校官网的推免公告，变成今天该你办的几件事。2,646 条公告、557 位导师、233 条自动检查。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【0:20–0:50】保研对每个保研人都是刚需，但不是每个人都愿意为信息付钱。所以我们的吸引力不在“信息更多”，而在“不漏一条，而且每条都能点回原文核对”。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【0:50–1:20】痛点三个字：散、藏、失真。公告散在 29 所学校；截止日藏在附件；群里转的是二手信息。抓完才发现，2,646 条里只有 536 条是招生通知。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【1:20–1:55】产品是一条链路：填四行字，拿到不超过十条推送，点开能看材料、附件、正文，页尾永远有“看原文”；再往后匹配导师、写套磁信、关注学院。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【1:55–2:35】最关键的功能：字段三态。读到了显示日期；学校确实没写，写“未公布”；我们没读到，写“请点原文核对”。北大那条正文没写截止日，截止日在附件第二页；标成“无截止日”会误导。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【2:35–3:05】每条推送都写清楚“为什么推给你”：意向学校、专业、方向、发布时间、截止紧迫。不是黑箱分数，是四个可以核对的维度；点“看原文”永远能回官网。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【3:05–3:30】导师 557 位，按研究方向匹配；套磁信是模板生成，明确标注没接模型。最值钱的是 4 条引文，每条都能点回公告原文。接不接模型都可以，引文必须能核对。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【3:30–4:10】创新不是“用了 AI”，而是三件事：三态数据、原文回链、可复跑的工程检查。三校漏检率从 74.1% 降到 17.4%——只覆盖三所，我们不把它说成整体准确率。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【4:10–4:40】免费每天前十条；29 元一个月是待验证假设，不是定价结论。付费点是提醒、不漏、历史检索和原文核对。验证方式就是浙大 3 到 5 位正在保研的同学试用，有人愿意付才算成立。现在收入是 0，不把模拟开通说成营收。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【4:40–5:00】最后一句话：这个项目最值钱的不是 2,646 条数据，是它对“不知道”的处理方式。读不到就说读不到，没有就说今天没有。谢谢。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658368"/>
            <a:ext cx="2103120" cy="27432"/>
          </a:xfrm>
          <a:prstGeom prst="rect">
            <a:avLst/>
          </a:prstGeom>
          <a:solidFill>
            <a:srgbClr val="A98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推免雷达  ·  TUIMIAN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200" b="1">
                <a:solidFill>
                  <a:srgbClr val="1E2924"/>
                </a:solidFill>
                <a:latin typeface="Noto Serif SC"/>
                <a:ea typeface="Noto Serif SC"/>
              </a:rPr>
              <a:t>推免雷达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0">
                <a:solidFill>
                  <a:srgbClr val="6E756C"/>
                </a:solidFill>
                <a:latin typeface="Noto Sans SC"/>
                <a:ea typeface="Noto Sans SC"/>
              </a:rPr>
              <a:t>把 29 所高校官网的推免公告，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0">
                <a:solidFill>
                  <a:srgbClr val="6E756C"/>
                </a:solidFill>
                <a:latin typeface="Noto Sans SC"/>
                <a:ea typeface="Noto Sans SC"/>
              </a:rPr>
              <a:t>变成今天该你办的几件事。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1E2924"/>
                </a:solidFill>
                <a:latin typeface="Noto Serif SC"/>
                <a:ea typeface="Noto Serif SC"/>
              </a:rPr>
              <a:t>2,646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974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条公告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4408" y="4224528"/>
            <a:ext cx="10972" cy="914400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422452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1E2924"/>
                </a:solidFill>
                <a:latin typeface="Noto Serif SC"/>
                <a:ea typeface="Noto Serif SC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80974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所学校 / 37 个站点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4224528"/>
            <a:ext cx="10972" cy="914400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22452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1E2924"/>
                </a:solidFill>
                <a:latin typeface="Noto Serif SC"/>
                <a:ea typeface="Noto Serif SC"/>
              </a:rPr>
              <a:t>557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80974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位导师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59368" y="4224528"/>
            <a:ext cx="10972" cy="914400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422452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1E2924"/>
                </a:solidFill>
                <a:latin typeface="Noto Serif SC"/>
                <a:ea typeface="Noto Serif SC"/>
              </a:rPr>
              <a:t>233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80974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条自动检查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浙江大学 AI+X 破界黑客松 · 天猫校园产业孵化赛道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8C3A2E"/>
                </a:solidFill>
                <a:latin typeface="Noto Sans SC"/>
                <a:ea typeface="Noto Sans SC"/>
              </a:rPr>
              <a:t>01 / 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87552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000" b="1">
                <a:solidFill>
                  <a:srgbClr val="1E2924"/>
                </a:solidFill>
                <a:latin typeface="Noto Serif SC"/>
                <a:ea typeface="Noto Serif SC"/>
              </a:rPr>
              <a:t>保研是刚需，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000" b="1">
                <a:solidFill>
                  <a:srgbClr val="1E2924"/>
                </a:solidFill>
                <a:latin typeface="Noto Serif SC"/>
                <a:ea typeface="Noto Serif SC"/>
              </a:rPr>
              <a:t>但不是每个人都愿意付钱。</a:t>
            </a:r>
          </a:p>
        </p:txBody>
      </p:sp>
      <p:sp>
        <p:nvSpPr>
          <p:cNvPr id="4" name="a2-1"/>
          <p:cNvSpPr txBox="1"/>
          <p:nvPr/>
        </p:nvSpPr>
        <p:spPr>
          <a:xfrm>
            <a:off x="822960" y="278892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1E2924"/>
                </a:solidFill>
                <a:latin typeface="Noto Serif SC"/>
                <a:ea typeface="Noto Serif SC"/>
              </a:rPr>
              <a:t>每个保研人都在翻官网。</a:t>
            </a:r>
          </a:p>
        </p:txBody>
      </p:sp>
      <p:sp>
        <p:nvSpPr>
          <p:cNvPr id="5" name="a2-1"/>
          <p:cNvSpPr txBox="1"/>
          <p:nvPr/>
        </p:nvSpPr>
        <p:spPr>
          <a:xfrm>
            <a:off x="822960" y="3310128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>
                <a:solidFill>
                  <a:srgbClr val="6E756C"/>
                </a:solidFill>
                <a:latin typeface="Noto Sans SC"/>
                <a:ea typeface="Noto Sans SC"/>
              </a:rPr>
              <a:t>但“信息更多”本身，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>
                <a:solidFill>
                  <a:srgbClr val="6E756C"/>
                </a:solidFill>
                <a:latin typeface="Noto Sans SC"/>
                <a:ea typeface="Noto Sans SC"/>
              </a:rPr>
              <a:t>不足以让人掏钱。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743200"/>
            <a:ext cx="27432" cy="2468880"/>
          </a:xfrm>
          <a:prstGeom prst="rect">
            <a:avLst/>
          </a:prstGeom>
          <a:solidFill>
            <a:srgbClr val="8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2-2"/>
          <p:cNvSpPr txBox="1"/>
          <p:nvPr/>
        </p:nvSpPr>
        <p:spPr>
          <a:xfrm>
            <a:off x="6446520" y="274320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1E2924"/>
                </a:solidFill>
                <a:latin typeface="Noto Serif SC"/>
                <a:ea typeface="Noto Serif SC"/>
              </a:rPr>
              <a:t>所以吸引力不在“更多”，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1E2924"/>
                </a:solidFill>
                <a:latin typeface="Noto Serif SC"/>
                <a:ea typeface="Noto Serif SC"/>
              </a:rPr>
              <a:t>在“不漏”和“可核对”。</a:t>
            </a:r>
          </a:p>
        </p:txBody>
      </p:sp>
      <p:sp>
        <p:nvSpPr>
          <p:cNvPr id="8" name="a2-2"/>
          <p:cNvSpPr txBox="1"/>
          <p:nvPr/>
        </p:nvSpPr>
        <p:spPr>
          <a:xfrm>
            <a:off x="6446520" y="45262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0">
                <a:solidFill>
                  <a:srgbClr val="6E756C"/>
                </a:solidFill>
                <a:latin typeface="Noto Sans SC"/>
                <a:ea typeface="Noto Sans SC"/>
              </a:rPr>
              <a:t>漏一条，代价是一整年的机会；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0">
                <a:solidFill>
                  <a:srgbClr val="6E756C"/>
                </a:solidFill>
                <a:latin typeface="Noto Sans SC"/>
                <a:ea typeface="Noto Sans SC"/>
              </a:rPr>
              <a:t>点不回原文，信息就不敢用。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8C3A2E"/>
                </a:solidFill>
                <a:latin typeface="Noto Sans SC"/>
                <a:ea typeface="Noto Sans SC"/>
              </a:rPr>
              <a:t>02 /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400" b="1">
                <a:solidFill>
                  <a:srgbClr val="1E2924"/>
                </a:solidFill>
                <a:latin typeface="Noto Serif SC"/>
                <a:ea typeface="Noto Serif SC"/>
              </a:rPr>
              <a:t>散、藏、失真。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E756C"/>
                </a:solidFill>
                <a:latin typeface="Noto Sans SC"/>
                <a:ea typeface="Noto Sans SC"/>
              </a:rPr>
              <a:t>真正的问题不是信息少，是不知道今天有没有该我动作的事。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10424160" cy="10972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8163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6148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1E2924"/>
                </a:solidFill>
                <a:latin typeface="Noto Serif SC"/>
                <a:ea typeface="Noto Serif SC"/>
              </a:rPr>
              <a:t>散</a:t>
            </a:r>
          </a:p>
        </p:txBody>
      </p:sp>
      <p:sp>
        <p:nvSpPr>
          <p:cNvPr id="8" name="a3-1"/>
          <p:cNvSpPr txBox="1"/>
          <p:nvPr/>
        </p:nvSpPr>
        <p:spPr>
          <a:xfrm>
            <a:off x="2971800" y="283464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E756C"/>
                </a:solidFill>
                <a:latin typeface="Noto Sans SC"/>
                <a:ea typeface="Noto Sans SC"/>
              </a:rPr>
              <a:t>公告散在 29 所学校的院系网站，栏目结构每所都不一样。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86200"/>
            <a:ext cx="10424160" cy="10972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050791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99592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1E2924"/>
                </a:solidFill>
                <a:latin typeface="Noto Serif SC"/>
                <a:ea typeface="Noto Serif SC"/>
              </a:rPr>
              <a:t>藏</a:t>
            </a:r>
          </a:p>
        </p:txBody>
      </p:sp>
      <p:sp>
        <p:nvSpPr>
          <p:cNvPr id="12" name="a3-2"/>
          <p:cNvSpPr txBox="1"/>
          <p:nvPr/>
        </p:nvSpPr>
        <p:spPr>
          <a:xfrm>
            <a:off x="2971800" y="406908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E756C"/>
                </a:solidFill>
                <a:latin typeface="Noto Sans SC"/>
                <a:ea typeface="Noto Sans SC"/>
              </a:rPr>
              <a:t>截止日常常不在正文，而在附件 PDF、表格，甚至图片里。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120640"/>
            <a:ext cx="10424160" cy="10972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285231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3036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1E2924"/>
                </a:solidFill>
                <a:latin typeface="Noto Serif SC"/>
                <a:ea typeface="Noto Serif SC"/>
              </a:rPr>
              <a:t>失真</a:t>
            </a:r>
          </a:p>
        </p:txBody>
      </p:sp>
      <p:sp>
        <p:nvSpPr>
          <p:cNvPr id="16" name="a3-3"/>
          <p:cNvSpPr txBox="1"/>
          <p:nvPr/>
        </p:nvSpPr>
        <p:spPr>
          <a:xfrm>
            <a:off x="2971800" y="530352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E756C"/>
                </a:solidFill>
                <a:latin typeface="Noto Sans SC"/>
                <a:ea typeface="Noto Sans SC"/>
              </a:rPr>
              <a:t>群里转发的是二手信息：滞后、点不回原文、没法核对。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03 / 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F3EDE1"/>
                </a:solidFill>
                <a:latin typeface="Noto Serif SC"/>
                <a:ea typeface="Noto Serif SC"/>
              </a:rPr>
              <a:t>填四行字，拿到十条，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F3EDE1"/>
                </a:solidFill>
                <a:latin typeface="Noto Serif SC"/>
                <a:ea typeface="Noto Serif SC"/>
              </a:rPr>
              <a:t>每条都能点回原文。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C2C9BD"/>
                </a:solidFill>
                <a:latin typeface="Noto Sans SC"/>
                <a:ea typeface="Noto Sans SC"/>
              </a:rPr>
              <a:t>一条链路，六个动作。没有“点开才知道是什么”的悬念。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0358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>
                <a:solidFill>
                  <a:srgbClr val="F3EDE1"/>
                </a:solidFill>
                <a:latin typeface="Noto Serif SC"/>
                <a:ea typeface="Noto Serif SC"/>
              </a:rPr>
              <a:t>填画像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79" y="308152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学校/专业/意向/方向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5074920" cy="10972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306324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0358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>
                <a:solidFill>
                  <a:srgbClr val="F3EDE1"/>
                </a:solidFill>
                <a:latin typeface="Noto Serif SC"/>
                <a:ea typeface="Noto Serif SC"/>
              </a:rPr>
              <a:t>拿推送</a:t>
            </a:r>
          </a:p>
        </p:txBody>
      </p:sp>
      <p:sp>
        <p:nvSpPr>
          <p:cNvPr id="11" name="a4-2"/>
          <p:cNvSpPr txBox="1"/>
          <p:nvPr/>
        </p:nvSpPr>
        <p:spPr>
          <a:xfrm>
            <a:off x="8641080" y="308152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每天不超过 10 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566160"/>
            <a:ext cx="5074920" cy="10972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14223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114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>
                <a:solidFill>
                  <a:srgbClr val="F3EDE1"/>
                </a:solidFill>
                <a:latin typeface="Noto Serif SC"/>
                <a:ea typeface="Noto Serif SC"/>
              </a:rPr>
              <a:t>点开核对</a:t>
            </a:r>
          </a:p>
        </p:txBody>
      </p:sp>
      <p:sp>
        <p:nvSpPr>
          <p:cNvPr id="15" name="a4-3"/>
          <p:cNvSpPr txBox="1"/>
          <p:nvPr/>
        </p:nvSpPr>
        <p:spPr>
          <a:xfrm>
            <a:off x="3154679" y="41605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材料 / 附件 / 正文 / 原文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45152"/>
            <a:ext cx="5074920" cy="10972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414223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114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>
                <a:solidFill>
                  <a:srgbClr val="F3EDE1"/>
                </a:solidFill>
                <a:latin typeface="Noto Serif SC"/>
                <a:ea typeface="Noto Serif SC"/>
              </a:rPr>
              <a:t>匹配导师</a:t>
            </a:r>
          </a:p>
        </p:txBody>
      </p:sp>
      <p:sp>
        <p:nvSpPr>
          <p:cNvPr id="19" name="a4-4"/>
          <p:cNvSpPr txBox="1"/>
          <p:nvPr/>
        </p:nvSpPr>
        <p:spPr>
          <a:xfrm>
            <a:off x="8641080" y="41605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按研究方向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645152"/>
            <a:ext cx="5074920" cy="10972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221224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1937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>
                <a:solidFill>
                  <a:srgbClr val="F3EDE1"/>
                </a:solidFill>
                <a:latin typeface="Noto Serif SC"/>
                <a:ea typeface="Noto Serif SC"/>
              </a:rPr>
              <a:t>写套磁信</a:t>
            </a:r>
          </a:p>
        </p:txBody>
      </p:sp>
      <p:sp>
        <p:nvSpPr>
          <p:cNvPr id="23" name="a4-5"/>
          <p:cNvSpPr txBox="1"/>
          <p:nvPr/>
        </p:nvSpPr>
        <p:spPr>
          <a:xfrm>
            <a:off x="3154679" y="52395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引文逐条回链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24144"/>
            <a:ext cx="5074920" cy="10972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5221224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1937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400" b="1">
                <a:solidFill>
                  <a:srgbClr val="F3EDE1"/>
                </a:solidFill>
                <a:latin typeface="Noto Serif SC"/>
                <a:ea typeface="Noto Serif SC"/>
              </a:rPr>
              <a:t>关注学院</a:t>
            </a:r>
          </a:p>
        </p:txBody>
      </p:sp>
      <p:sp>
        <p:nvSpPr>
          <p:cNvPr id="27" name="a4-6"/>
          <p:cNvSpPr txBox="1"/>
          <p:nvPr/>
        </p:nvSpPr>
        <p:spPr>
          <a:xfrm>
            <a:off x="8641080" y="52395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有公告就提醒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724144"/>
            <a:ext cx="5074920" cy="10972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8C3A2E"/>
                </a:solidFill>
                <a:latin typeface="Noto Sans SC"/>
                <a:ea typeface="Noto Sans SC"/>
              </a:rPr>
              <a:t>04 / 功能一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424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E2924"/>
                </a:solidFill>
                <a:latin typeface="Noto Serif SC"/>
                <a:ea typeface="Noto Serif SC"/>
              </a:rPr>
              <a:t>截止日分三态：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E2924"/>
                </a:solidFill>
                <a:latin typeface="Noto Serif SC"/>
                <a:ea typeface="Noto Serif SC"/>
              </a:rPr>
              <a:t>不把“不知道”说成“没有”。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7004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358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E2924"/>
                </a:solidFill>
                <a:latin typeface="Noto Serif SC"/>
                <a:ea typeface="Noto Serif SC"/>
              </a:rPr>
              <a:t>读到了</a:t>
            </a:r>
          </a:p>
        </p:txBody>
      </p:sp>
      <p:sp>
        <p:nvSpPr>
          <p:cNvPr id="6" name="a5-1"/>
          <p:cNvSpPr txBox="1"/>
          <p:nvPr/>
        </p:nvSpPr>
        <p:spPr>
          <a:xfrm>
            <a:off x="822960" y="361188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直接显示日期，并算出还剩几天。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697480"/>
            <a:ext cx="10972" cy="1965960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67004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ABSENT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0358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E2924"/>
                </a:solidFill>
                <a:latin typeface="Noto Serif SC"/>
                <a:ea typeface="Noto Serif SC"/>
              </a:rPr>
              <a:t>学校确实没写</a:t>
            </a:r>
          </a:p>
        </p:txBody>
      </p:sp>
      <p:sp>
        <p:nvSpPr>
          <p:cNvPr id="10" name="a5-2"/>
          <p:cNvSpPr txBox="1"/>
          <p:nvPr/>
        </p:nvSpPr>
        <p:spPr>
          <a:xfrm>
            <a:off x="4480560" y="361188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显示「该公告未公布截止日」，不猜。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697480"/>
            <a:ext cx="10972" cy="1965960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67004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0358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E2924"/>
                </a:solidFill>
                <a:latin typeface="Noto Serif SC"/>
                <a:ea typeface="Noto Serif SC"/>
              </a:rPr>
              <a:t>我们没读到</a:t>
            </a:r>
          </a:p>
        </p:txBody>
      </p:sp>
      <p:sp>
        <p:nvSpPr>
          <p:cNvPr id="14" name="a5-3"/>
          <p:cNvSpPr txBox="1"/>
          <p:nvPr/>
        </p:nvSpPr>
        <p:spPr>
          <a:xfrm>
            <a:off x="8138160" y="361188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显示「未能读取，请点原文核对」。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983480"/>
            <a:ext cx="10424160" cy="32004"/>
          </a:xfrm>
          <a:prstGeom prst="rect">
            <a:avLst/>
          </a:prstGeom>
          <a:solidFill>
            <a:srgbClr val="8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5-4"/>
          <p:cNvSpPr txBox="1"/>
          <p:nvPr/>
        </p:nvSpPr>
        <p:spPr>
          <a:xfrm>
            <a:off x="1051560" y="51663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1E2924"/>
                </a:solidFill>
                <a:latin typeface="Noto Sans SC"/>
                <a:ea typeface="Noto Sans SC"/>
              </a:rPr>
              <a:t>真实案例：北大 2027 推免办法，正文没写截止日，截止日在附件 PDF 第二页。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1E2924"/>
                </a:solidFill>
                <a:latin typeface="Noto Sans SC"/>
                <a:ea typeface="Noto Sans SC"/>
              </a:rPr>
              <a:t>标成“无截止日”会让学生以为随时能报；我们标成 absent，同时保留附件和原文。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8C3A2E"/>
                </a:solidFill>
                <a:latin typeface="Noto Sans SC"/>
                <a:ea typeface="Noto Sans SC"/>
              </a:rPr>
              <a:t>05 / 功能二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E2924"/>
                </a:solidFill>
                <a:latin typeface="Noto Serif SC"/>
                <a:ea typeface="Noto Serif SC"/>
              </a:rPr>
              <a:t>每一推，都说清“为什么是你”。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0424160" cy="10972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8C3A2E"/>
                </a:solidFill>
                <a:latin typeface="Noto Sans SC"/>
                <a:ea typeface="Noto Sans SC"/>
              </a:rPr>
              <a:t>招生通知  ·  北京大学  ·  研究生招生网  ·  还剩 1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871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E2924"/>
                </a:solidFill>
                <a:latin typeface="Noto Serif SC"/>
                <a:ea typeface="Noto Serif SC"/>
              </a:rPr>
              <a:t>北京大学 2027 年接收推荐免试研究生办法（校本部）</a:t>
            </a:r>
          </a:p>
        </p:txBody>
      </p:sp>
      <p:sp>
        <p:nvSpPr>
          <p:cNvPr id="7" name="a6-1"/>
          <p:cNvSpPr txBox="1"/>
          <p:nvPr/>
        </p:nvSpPr>
        <p:spPr>
          <a:xfrm>
            <a:off x="1051560" y="3154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发布于 2026-08-31  ·  截止 2026-10-20</a:t>
            </a:r>
          </a:p>
        </p:txBody>
      </p:sp>
      <p:sp>
        <p:nvSpPr>
          <p:cNvPr id="8" name="a6-2"/>
          <p:cNvSpPr txBox="1"/>
          <p:nvPr/>
        </p:nvSpPr>
        <p:spPr>
          <a:xfrm>
            <a:off x="1051560" y="36393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1E2924"/>
                </a:solidFill>
                <a:latin typeface="Noto Sans SC"/>
                <a:ea typeface="Noto Sans SC"/>
              </a:rPr>
              <a:t>意向学校：北京大学    方向命中：材料    发布时间：2 天前    截止紧迫：今天截止</a:t>
            </a:r>
          </a:p>
        </p:txBody>
      </p:sp>
      <p:sp>
        <p:nvSpPr>
          <p:cNvPr id="9" name="a6-3"/>
          <p:cNvSpPr txBox="1"/>
          <p:nvPr/>
        </p:nvSpPr>
        <p:spPr>
          <a:xfrm>
            <a:off x="1051560" y="42245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>
                <a:solidFill>
                  <a:srgbClr val="8C3A2E"/>
                </a:solidFill>
                <a:latin typeface="Noto Sans SC"/>
                <a:ea typeface="Noto Sans SC"/>
              </a:rPr>
              <a:t>看原文 ↗    详情页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00600"/>
            <a:ext cx="10424160" cy="10972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6-4"/>
          <p:cNvSpPr txBox="1"/>
          <p:nvPr/>
        </p:nvSpPr>
        <p:spPr>
          <a:xfrm>
            <a:off x="822960" y="50749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6E756C"/>
                </a:solidFill>
                <a:latin typeface="Noto Sans SC"/>
                <a:ea typeface="Noto Sans SC"/>
              </a:rPr>
              <a:t>不是“算法觉得你合适”，是四个可核对的维度：学校、专业、方向、新鲜度。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8C3A2E"/>
                </a:solidFill>
                <a:latin typeface="Noto Sans SC"/>
                <a:ea typeface="Noto Sans SC"/>
              </a:rPr>
              <a:t>06 / 功能三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E2924"/>
                </a:solidFill>
                <a:latin typeface="Noto Serif SC"/>
                <a:ea typeface="Noto Serif SC"/>
              </a:rPr>
              <a:t>找到人，写对信，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E2924"/>
                </a:solidFill>
                <a:latin typeface="Noto Serif SC"/>
                <a:ea typeface="Noto Serif SC"/>
              </a:rPr>
              <a:t>每句引文都能回原文。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800" b="1">
                <a:solidFill>
                  <a:srgbClr val="8C3A2E"/>
                </a:solidFill>
                <a:latin typeface="Noto Serif SC"/>
                <a:ea typeface="Noto Serif SC"/>
              </a:rPr>
              <a:t>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821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1E2924"/>
                </a:solidFill>
                <a:latin typeface="Noto Sans SC"/>
                <a:ea typeface="Noto Sans SC"/>
              </a:rPr>
              <a:t>位导师，按研究方向匹配</a:t>
            </a:r>
          </a:p>
        </p:txBody>
      </p:sp>
      <p:sp>
        <p:nvSpPr>
          <p:cNvPr id="6" name="a7-1"/>
          <p:cNvSpPr txBox="1"/>
          <p:nvPr/>
        </p:nvSpPr>
        <p:spPr>
          <a:xfrm>
            <a:off x="822960" y="3675887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379 位有研究方向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327 位有公开邮箱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按兴趣词覆盖率排序，不是按名气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146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800" b="1">
                <a:solidFill>
                  <a:srgbClr val="8C3A2E"/>
                </a:solidFill>
                <a:latin typeface="Noto Serif SC"/>
                <a:ea typeface="Noto Serif SC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1821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1E2924"/>
                </a:solidFill>
                <a:latin typeface="Noto Sans SC"/>
                <a:ea typeface="Noto Sans SC"/>
              </a:rPr>
              <a:t>条引文，逐条可回公告原文</a:t>
            </a:r>
          </a:p>
        </p:txBody>
      </p:sp>
      <p:sp>
        <p:nvSpPr>
          <p:cNvPr id="9" name="a7-2"/>
          <p:cNvSpPr txBox="1"/>
          <p:nvPr/>
        </p:nvSpPr>
        <p:spPr>
          <a:xfrm>
            <a:off x="6217920" y="3675887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模板生成，明确标注「没有接入模型」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每句引用都能点回原文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信可以改，引文不能编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440680"/>
            <a:ext cx="27432" cy="685800"/>
          </a:xfrm>
          <a:prstGeom prst="rect">
            <a:avLst/>
          </a:prstGeom>
          <a:solidFill>
            <a:srgbClr val="8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7-3"/>
          <p:cNvSpPr txBox="1"/>
          <p:nvPr/>
        </p:nvSpPr>
        <p:spPr>
          <a:xfrm>
            <a:off x="1097280" y="5440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E2924"/>
                </a:solidFill>
                <a:latin typeface="Noto Serif SC"/>
                <a:ea typeface="Noto Serif SC"/>
              </a:rPr>
              <a:t>“接不接模型都可以，引文必须能核对。”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07 / 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F3EDE1"/>
                </a:solidFill>
                <a:latin typeface="Noto Serif SC"/>
                <a:ea typeface="Noto Serif SC"/>
              </a:rPr>
              <a:t>创新不是“用了 AI”，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F3EDE1"/>
                </a:solidFill>
                <a:latin typeface="Noto Serif SC"/>
                <a:ea typeface="Noto Serif SC"/>
              </a:rPr>
              <a:t>是“每一句都能被验证”。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64261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F3EDE1"/>
                </a:solidFill>
                <a:latin typeface="Noto Serif SC"/>
                <a:ea typeface="Noto Serif SC"/>
              </a:rPr>
              <a:t>三态数据</a:t>
            </a:r>
          </a:p>
        </p:txBody>
      </p:sp>
      <p:sp>
        <p:nvSpPr>
          <p:cNvPr id="6" name="a8-1"/>
          <p:cNvSpPr txBox="1"/>
          <p:nvPr/>
        </p:nvSpPr>
        <p:spPr>
          <a:xfrm>
            <a:off x="3840480" y="2697480"/>
            <a:ext cx="7223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三态分开存、分开显示；不拿“不知道”冒充“没有”。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00400"/>
            <a:ext cx="10424160" cy="10972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6027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F3EDE1"/>
                </a:solidFill>
                <a:latin typeface="Noto Serif SC"/>
                <a:ea typeface="Noto Serif SC"/>
              </a:rPr>
              <a:t>原文回链</a:t>
            </a:r>
          </a:p>
        </p:txBody>
      </p:sp>
      <p:sp>
        <p:nvSpPr>
          <p:cNvPr id="10" name="a8-2"/>
          <p:cNvSpPr txBox="1"/>
          <p:nvPr/>
        </p:nvSpPr>
        <p:spPr>
          <a:xfrm>
            <a:off x="3840480" y="3657600"/>
            <a:ext cx="7223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公告、导师、引文都带原文 URL；用户点一下就能核对。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60520"/>
            <a:ext cx="10424160" cy="10972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5628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F3EDE1"/>
                </a:solidFill>
                <a:latin typeface="Noto Serif SC"/>
                <a:ea typeface="Noto Serif SC"/>
              </a:rPr>
              <a:t>可复跑的工程</a:t>
            </a:r>
          </a:p>
        </p:txBody>
      </p:sp>
      <p:sp>
        <p:nvSpPr>
          <p:cNvPr id="14" name="a8-3"/>
          <p:cNvSpPr txBox="1"/>
          <p:nvPr/>
        </p:nvSpPr>
        <p:spPr>
          <a:xfrm>
            <a:off x="3840480" y="4617720"/>
            <a:ext cx="7223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233 条门禁守住契约与三态；三校漏检率 74.1% → 17.4%。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120640"/>
            <a:ext cx="10424160" cy="10972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8-4"/>
          <p:cNvSpPr txBox="1"/>
          <p:nvPr/>
        </p:nvSpPr>
        <p:spPr>
          <a:xfrm>
            <a:off x="822960" y="56692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3EDE1"/>
                </a:solidFill>
                <a:latin typeface="Noto Serif SC"/>
                <a:ea typeface="Noto Serif SC"/>
              </a:rPr>
              <a:t>同赛道都在做“聚合 + 推荐”；我们做的是“聚合之后，你敢不敢用”。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8C3A2E"/>
                </a:solidFill>
                <a:latin typeface="Noto Sans SC"/>
                <a:ea typeface="Noto Sans SC"/>
              </a:rPr>
              <a:t>08 / 商业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E2924"/>
                </a:solidFill>
                <a:latin typeface="Noto Serif SC"/>
                <a:ea typeface="Noto Serif SC"/>
              </a:rPr>
              <a:t>免费先把“不漏”做出来，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E2924"/>
                </a:solidFill>
                <a:latin typeface="Noto Serif SC"/>
                <a:ea typeface="Noto Serif SC"/>
              </a:rPr>
              <a:t>再让人为“提醒”付钱。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400" b="1">
                <a:solidFill>
                  <a:srgbClr val="8C3A2E"/>
                </a:solidFill>
                <a:latin typeface="Noto Serif SC"/>
                <a:ea typeface="Noto Serif SC"/>
              </a:rPr>
              <a:t>¥29 / 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28346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待验证假设</a:t>
            </a:r>
          </a:p>
        </p:txBody>
      </p:sp>
      <p:sp>
        <p:nvSpPr>
          <p:cNvPr id="6" name="a9-1"/>
          <p:cNvSpPr txBox="1"/>
          <p:nvPr/>
        </p:nvSpPr>
        <p:spPr>
          <a:xfrm>
            <a:off x="822960" y="347472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免费：每天前 10 条推送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付费点：提醒 + 历史检索 + 原文核对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不卖录取概率，不卖“保研指导”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2697480"/>
            <a:ext cx="10972" cy="2651760"/>
          </a:xfrm>
          <a:prstGeom prst="rect">
            <a:avLst/>
          </a:prstGeom>
          <a:solidFill>
            <a:srgbClr val="DCD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651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1E2924"/>
                </a:solidFill>
                <a:latin typeface="Noto Serif SC"/>
                <a:ea typeface="Noto Serif SC"/>
              </a:rPr>
              <a:t>怎么验证</a:t>
            </a:r>
          </a:p>
        </p:txBody>
      </p:sp>
      <p:sp>
        <p:nvSpPr>
          <p:cNvPr id="9" name="a9-2"/>
          <p:cNvSpPr txBox="1"/>
          <p:nvPr/>
        </p:nvSpPr>
        <p:spPr>
          <a:xfrm>
            <a:off x="6446520" y="320040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浙大物理 / 材料学院，3–5 位正在保研的同学试用 15 分钟；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只要有人愿意为“不漏 + 可回原文”付 29 元，假设才成立。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6E756C"/>
                </a:solidFill>
                <a:latin typeface="Noto Sans SC"/>
                <a:ea typeface="Noto Sans SC"/>
              </a:rPr>
              <a:t>现在收入是 0，支付是演示开通码——不把模拟开通说成营收。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98B5B"/>
                </a:solidFill>
                <a:latin typeface="Noto Sans SC"/>
                <a:ea typeface="Noto Sans SC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09 /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000" b="1">
                <a:solidFill>
                  <a:srgbClr val="F3EDE1"/>
                </a:solidFill>
                <a:latin typeface="Noto Serif SC"/>
                <a:ea typeface="Noto Serif SC"/>
              </a:rPr>
              <a:t>说得清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000" b="1">
                <a:solidFill>
                  <a:srgbClr val="F3EDE1"/>
                </a:solidFill>
                <a:latin typeface="Noto Serif SC"/>
                <a:ea typeface="Noto Serif SC"/>
              </a:rPr>
              <a:t>自己哪里不知道。</a:t>
            </a:r>
          </a:p>
        </p:txBody>
      </p:sp>
      <p:sp>
        <p:nvSpPr>
          <p:cNvPr id="4" name="a10-1"/>
          <p:cNvSpPr txBox="1"/>
          <p:nvPr/>
        </p:nvSpPr>
        <p:spPr>
          <a:xfrm>
            <a:off x="822960" y="3337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C2C9BD"/>
                </a:solidFill>
                <a:latin typeface="Noto Sans SC"/>
                <a:ea typeface="Noto Sans SC"/>
              </a:rPr>
              <a:t>读不到就说读不到；没有就说今天没有。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C2C9BD"/>
                </a:solidFill>
                <a:latin typeface="Noto Sans SC"/>
                <a:ea typeface="Noto Sans SC"/>
              </a:rPr>
              <a:t>守住这条，29 所学校也是可信的。</a:t>
            </a:r>
          </a:p>
        </p:txBody>
      </p:sp>
      <p:sp>
        <p:nvSpPr>
          <p:cNvPr id="5" name="a10-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F3EDE1"/>
                </a:solidFill>
                <a:latin typeface="Noto Sans SC"/>
                <a:ea typeface="Noto Sans SC"/>
              </a:rPr>
              <a:t>产品：lcmcharming-tuimian-radar.ms.show</a:t>
            </a:r>
          </a:p>
        </p:txBody>
      </p:sp>
      <p:sp>
        <p:nvSpPr>
          <p:cNvPr id="6" name="a10-2"/>
          <p:cNvSpPr txBox="1"/>
          <p:nvPr/>
        </p:nvSpPr>
        <p:spPr>
          <a:xfrm>
            <a:off x="822960" y="53218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F3EDE1"/>
                </a:solidFill>
                <a:latin typeface="Noto Sans SC"/>
                <a:ea typeface="Noto Sans SC"/>
              </a:rPr>
              <a:t>代码：github.com/ACharming-LCM/tuimian-radar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728</Words>
  <Application>Microsoft Office PowerPoint</Application>
  <PresentationFormat>宽屏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Noto Serif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推免雷达 · 5 分钟路演</dc:title>
  <dc:subject>保研信息监控与核对工具</dc:subject>
  <dc:creator>ACharming-LCM</dc:creator>
  <cp:keywords/>
  <dc:description>generated using python-pptx</dc:description>
  <cp:lastModifiedBy>8619564781616</cp:lastModifiedBy>
  <cp:revision>2</cp:revision>
  <dcterms:created xsi:type="dcterms:W3CDTF">2013-01-27T09:14:16Z</dcterms:created>
  <dcterms:modified xsi:type="dcterms:W3CDTF">2026-10-22T09:58:07Z</dcterms:modified>
  <cp:category/>
</cp:coreProperties>
</file>